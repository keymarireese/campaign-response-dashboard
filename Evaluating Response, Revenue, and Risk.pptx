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8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43F2BC-2396-4F28-86C1-30F8D15779DA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7BBB708-D9C3-45D9-BE71-F3AAFCC3599A}">
      <dgm:prSet/>
      <dgm:spPr/>
      <dgm:t>
        <a:bodyPr/>
        <a:lstStyle/>
        <a:p>
          <a:r>
            <a:rPr lang="en-US"/>
            <a:t>Test</a:t>
          </a:r>
        </a:p>
      </dgm:t>
    </dgm:pt>
    <dgm:pt modelId="{1B147262-04A9-4C1B-B196-B19B9D769A26}" type="parTrans" cxnId="{C08D5AD9-C148-443F-826B-9CC119AD1040}">
      <dgm:prSet/>
      <dgm:spPr/>
      <dgm:t>
        <a:bodyPr/>
        <a:lstStyle/>
        <a:p>
          <a:endParaRPr lang="en-US"/>
        </a:p>
      </dgm:t>
    </dgm:pt>
    <dgm:pt modelId="{D0A31DEE-C45A-499C-8AE2-486B896EBF4F}" type="sibTrans" cxnId="{C08D5AD9-C148-443F-826B-9CC119AD1040}">
      <dgm:prSet/>
      <dgm:spPr/>
      <dgm:t>
        <a:bodyPr/>
        <a:lstStyle/>
        <a:p>
          <a:endParaRPr lang="en-US"/>
        </a:p>
      </dgm:t>
    </dgm:pt>
    <dgm:pt modelId="{A3FCB869-D12F-4C0F-B856-CCC3710322A8}">
      <dgm:prSet/>
      <dgm:spPr/>
      <dgm:t>
        <a:bodyPr/>
        <a:lstStyle/>
        <a:p>
          <a:r>
            <a:rPr lang="en-US"/>
            <a:t>Test reduced discounting for high-value customers</a:t>
          </a:r>
        </a:p>
      </dgm:t>
    </dgm:pt>
    <dgm:pt modelId="{28B97F67-EE80-4C5A-A81B-76031A8F0394}" type="parTrans" cxnId="{180754CF-2F20-40C7-A990-5858B06FC197}">
      <dgm:prSet/>
      <dgm:spPr/>
      <dgm:t>
        <a:bodyPr/>
        <a:lstStyle/>
        <a:p>
          <a:endParaRPr lang="en-US"/>
        </a:p>
      </dgm:t>
    </dgm:pt>
    <dgm:pt modelId="{8C6A83EA-A9EA-45FA-A8E4-B902235886D5}" type="sibTrans" cxnId="{180754CF-2F20-40C7-A990-5858B06FC197}">
      <dgm:prSet/>
      <dgm:spPr/>
      <dgm:t>
        <a:bodyPr/>
        <a:lstStyle/>
        <a:p>
          <a:endParaRPr lang="en-US"/>
        </a:p>
      </dgm:t>
    </dgm:pt>
    <dgm:pt modelId="{C3C96EAC-7B06-4ECC-BDA6-663BDAE67AC9}">
      <dgm:prSet/>
      <dgm:spPr/>
      <dgm:t>
        <a:bodyPr/>
        <a:lstStyle/>
        <a:p>
          <a:r>
            <a:rPr lang="en-US"/>
            <a:t>Segment</a:t>
          </a:r>
        </a:p>
      </dgm:t>
    </dgm:pt>
    <dgm:pt modelId="{E0EFF954-6C8E-4D3B-B1AA-A89B32B89863}" type="parTrans" cxnId="{8E3BF16D-7C61-44F5-A9AA-9056589FA720}">
      <dgm:prSet/>
      <dgm:spPr/>
      <dgm:t>
        <a:bodyPr/>
        <a:lstStyle/>
        <a:p>
          <a:endParaRPr lang="en-US"/>
        </a:p>
      </dgm:t>
    </dgm:pt>
    <dgm:pt modelId="{F14F9C1A-E0E8-4EBD-83F9-BCBBEAD58861}" type="sibTrans" cxnId="{8E3BF16D-7C61-44F5-A9AA-9056589FA720}">
      <dgm:prSet/>
      <dgm:spPr/>
      <dgm:t>
        <a:bodyPr/>
        <a:lstStyle/>
        <a:p>
          <a:endParaRPr lang="en-US"/>
        </a:p>
      </dgm:t>
    </dgm:pt>
    <dgm:pt modelId="{9FB30041-7DA7-4B9B-8142-3F7ADAD02CB3}">
      <dgm:prSet/>
      <dgm:spPr/>
      <dgm:t>
        <a:bodyPr/>
        <a:lstStyle/>
        <a:p>
          <a:r>
            <a:rPr lang="en-US"/>
            <a:t>Segment medium-value customers by product mix</a:t>
          </a:r>
        </a:p>
      </dgm:t>
    </dgm:pt>
    <dgm:pt modelId="{8CA357CA-3C47-4220-9415-69A4EC9DD9E0}" type="parTrans" cxnId="{09B6A94F-5474-47C1-B24C-ED8DD3BE7255}">
      <dgm:prSet/>
      <dgm:spPr/>
      <dgm:t>
        <a:bodyPr/>
        <a:lstStyle/>
        <a:p>
          <a:endParaRPr lang="en-US"/>
        </a:p>
      </dgm:t>
    </dgm:pt>
    <dgm:pt modelId="{833CC453-CC75-43E6-8ACE-9608D318C170}" type="sibTrans" cxnId="{09B6A94F-5474-47C1-B24C-ED8DD3BE7255}">
      <dgm:prSet/>
      <dgm:spPr/>
      <dgm:t>
        <a:bodyPr/>
        <a:lstStyle/>
        <a:p>
          <a:endParaRPr lang="en-US"/>
        </a:p>
      </dgm:t>
    </dgm:pt>
    <dgm:pt modelId="{5371F520-0A09-4338-86B6-9F1C35463565}">
      <dgm:prSet/>
      <dgm:spPr/>
      <dgm:t>
        <a:bodyPr/>
        <a:lstStyle/>
        <a:p>
          <a:r>
            <a:rPr lang="en-US"/>
            <a:t>Evaluate</a:t>
          </a:r>
        </a:p>
      </dgm:t>
    </dgm:pt>
    <dgm:pt modelId="{5BBE35EA-70AE-4DD8-B330-0EB8A0DCCDA9}" type="parTrans" cxnId="{ED1E7D67-2DB9-4AD0-A725-CAB47DB25089}">
      <dgm:prSet/>
      <dgm:spPr/>
      <dgm:t>
        <a:bodyPr/>
        <a:lstStyle/>
        <a:p>
          <a:endParaRPr lang="en-US"/>
        </a:p>
      </dgm:t>
    </dgm:pt>
    <dgm:pt modelId="{B9CC5B5C-E0E2-4C7E-B014-745843E34B9C}" type="sibTrans" cxnId="{ED1E7D67-2DB9-4AD0-A725-CAB47DB25089}">
      <dgm:prSet/>
      <dgm:spPr/>
      <dgm:t>
        <a:bodyPr/>
        <a:lstStyle/>
        <a:p>
          <a:endParaRPr lang="en-US"/>
        </a:p>
      </dgm:t>
    </dgm:pt>
    <dgm:pt modelId="{6A747BB0-E1FB-4355-9EB8-D62C8DB55806}">
      <dgm:prSet/>
      <dgm:spPr/>
      <dgm:t>
        <a:bodyPr/>
        <a:lstStyle/>
        <a:p>
          <a:r>
            <a:rPr lang="en-US"/>
            <a:t>Evaluate long-term LTV vs short-term response</a:t>
          </a:r>
        </a:p>
      </dgm:t>
    </dgm:pt>
    <dgm:pt modelId="{EFAE2A03-E4A4-4981-9F0C-B44BFC7ACB04}" type="parTrans" cxnId="{38F32612-FA01-489D-BEF7-A8E895E92263}">
      <dgm:prSet/>
      <dgm:spPr/>
      <dgm:t>
        <a:bodyPr/>
        <a:lstStyle/>
        <a:p>
          <a:endParaRPr lang="en-US"/>
        </a:p>
      </dgm:t>
    </dgm:pt>
    <dgm:pt modelId="{523091B6-D793-43A1-9D4A-3A7FD54C1805}" type="sibTrans" cxnId="{38F32612-FA01-489D-BEF7-A8E895E92263}">
      <dgm:prSet/>
      <dgm:spPr/>
      <dgm:t>
        <a:bodyPr/>
        <a:lstStyle/>
        <a:p>
          <a:endParaRPr lang="en-US"/>
        </a:p>
      </dgm:t>
    </dgm:pt>
    <dgm:pt modelId="{D877FDF8-00CA-4EEC-8D3B-9450E105ED48}" type="pres">
      <dgm:prSet presAssocID="{2D43F2BC-2396-4F28-86C1-30F8D15779DA}" presName="Name0" presStyleCnt="0">
        <dgm:presLayoutVars>
          <dgm:dir/>
          <dgm:animLvl val="lvl"/>
          <dgm:resizeHandles val="exact"/>
        </dgm:presLayoutVars>
      </dgm:prSet>
      <dgm:spPr/>
    </dgm:pt>
    <dgm:pt modelId="{C9B5F64F-85FD-488F-A77C-C7073021D24A}" type="pres">
      <dgm:prSet presAssocID="{5371F520-0A09-4338-86B6-9F1C35463565}" presName="boxAndChildren" presStyleCnt="0"/>
      <dgm:spPr/>
    </dgm:pt>
    <dgm:pt modelId="{E8C10E43-2AAB-4042-AE11-609F92688F41}" type="pres">
      <dgm:prSet presAssocID="{5371F520-0A09-4338-86B6-9F1C35463565}" presName="parentTextBox" presStyleLbl="alignNode1" presStyleIdx="0" presStyleCnt="3"/>
      <dgm:spPr/>
    </dgm:pt>
    <dgm:pt modelId="{7F647544-F277-48FF-84F0-159D1353662D}" type="pres">
      <dgm:prSet presAssocID="{5371F520-0A09-4338-86B6-9F1C35463565}" presName="descendantBox" presStyleLbl="bgAccFollowNode1" presStyleIdx="0" presStyleCnt="3"/>
      <dgm:spPr/>
    </dgm:pt>
    <dgm:pt modelId="{0E6382FE-43A1-4B26-ABE6-837D6F967A74}" type="pres">
      <dgm:prSet presAssocID="{F14F9C1A-E0E8-4EBD-83F9-BCBBEAD58861}" presName="sp" presStyleCnt="0"/>
      <dgm:spPr/>
    </dgm:pt>
    <dgm:pt modelId="{0CFC2EAC-8536-4B6D-BA66-F0950983C5B1}" type="pres">
      <dgm:prSet presAssocID="{C3C96EAC-7B06-4ECC-BDA6-663BDAE67AC9}" presName="arrowAndChildren" presStyleCnt="0"/>
      <dgm:spPr/>
    </dgm:pt>
    <dgm:pt modelId="{067E8B23-65BE-4F8E-A878-162B16BFB312}" type="pres">
      <dgm:prSet presAssocID="{C3C96EAC-7B06-4ECC-BDA6-663BDAE67AC9}" presName="parentTextArrow" presStyleLbl="node1" presStyleIdx="0" presStyleCnt="0"/>
      <dgm:spPr/>
    </dgm:pt>
    <dgm:pt modelId="{27036EF0-2C7B-4A9B-A26F-181152A7E9D4}" type="pres">
      <dgm:prSet presAssocID="{C3C96EAC-7B06-4ECC-BDA6-663BDAE67AC9}" presName="arrow" presStyleLbl="alignNode1" presStyleIdx="1" presStyleCnt="3"/>
      <dgm:spPr/>
    </dgm:pt>
    <dgm:pt modelId="{1FD5610A-E3C5-4DE8-ACCE-B25749305DD8}" type="pres">
      <dgm:prSet presAssocID="{C3C96EAC-7B06-4ECC-BDA6-663BDAE67AC9}" presName="descendantArrow" presStyleLbl="bgAccFollowNode1" presStyleIdx="1" presStyleCnt="3"/>
      <dgm:spPr/>
    </dgm:pt>
    <dgm:pt modelId="{72A5E268-91AE-40E2-BC83-A59EB38E24F2}" type="pres">
      <dgm:prSet presAssocID="{D0A31DEE-C45A-499C-8AE2-486B896EBF4F}" presName="sp" presStyleCnt="0"/>
      <dgm:spPr/>
    </dgm:pt>
    <dgm:pt modelId="{1DEF52EF-9D9E-496B-9063-A1F2D3939430}" type="pres">
      <dgm:prSet presAssocID="{A7BBB708-D9C3-45D9-BE71-F3AAFCC3599A}" presName="arrowAndChildren" presStyleCnt="0"/>
      <dgm:spPr/>
    </dgm:pt>
    <dgm:pt modelId="{F8848CA1-89CF-4436-AFF6-B46C8F7D8DB2}" type="pres">
      <dgm:prSet presAssocID="{A7BBB708-D9C3-45D9-BE71-F3AAFCC3599A}" presName="parentTextArrow" presStyleLbl="node1" presStyleIdx="0" presStyleCnt="0"/>
      <dgm:spPr/>
    </dgm:pt>
    <dgm:pt modelId="{02A7D417-A016-4963-A4A3-CB3AAF1620D6}" type="pres">
      <dgm:prSet presAssocID="{A7BBB708-D9C3-45D9-BE71-F3AAFCC3599A}" presName="arrow" presStyleLbl="alignNode1" presStyleIdx="2" presStyleCnt="3"/>
      <dgm:spPr/>
    </dgm:pt>
    <dgm:pt modelId="{B81DEA5B-82A6-413D-B98D-2EF2826AA6AB}" type="pres">
      <dgm:prSet presAssocID="{A7BBB708-D9C3-45D9-BE71-F3AAFCC3599A}" presName="descendantArrow" presStyleLbl="bgAccFollowNode1" presStyleIdx="2" presStyleCnt="3"/>
      <dgm:spPr/>
    </dgm:pt>
  </dgm:ptLst>
  <dgm:cxnLst>
    <dgm:cxn modelId="{85A8260B-A74A-4484-9702-A730DFD1E314}" type="presOf" srcId="{C3C96EAC-7B06-4ECC-BDA6-663BDAE67AC9}" destId="{067E8B23-65BE-4F8E-A878-162B16BFB312}" srcOrd="0" destOrd="0" presId="urn:microsoft.com/office/officeart/2016/7/layout/VerticalDownArrowProcess"/>
    <dgm:cxn modelId="{38F32612-FA01-489D-BEF7-A8E895E92263}" srcId="{5371F520-0A09-4338-86B6-9F1C35463565}" destId="{6A747BB0-E1FB-4355-9EB8-D62C8DB55806}" srcOrd="0" destOrd="0" parTransId="{EFAE2A03-E4A4-4981-9F0C-B44BFC7ACB04}" sibTransId="{523091B6-D793-43A1-9D4A-3A7FD54C1805}"/>
    <dgm:cxn modelId="{57E21D16-2A1A-47BB-8BB3-BD18517CF103}" type="presOf" srcId="{A7BBB708-D9C3-45D9-BE71-F3AAFCC3599A}" destId="{02A7D417-A016-4963-A4A3-CB3AAF1620D6}" srcOrd="1" destOrd="0" presId="urn:microsoft.com/office/officeart/2016/7/layout/VerticalDownArrowProcess"/>
    <dgm:cxn modelId="{17211C3E-701F-4E82-A661-62DB35D1555D}" type="presOf" srcId="{C3C96EAC-7B06-4ECC-BDA6-663BDAE67AC9}" destId="{27036EF0-2C7B-4A9B-A26F-181152A7E9D4}" srcOrd="1" destOrd="0" presId="urn:microsoft.com/office/officeart/2016/7/layout/VerticalDownArrowProcess"/>
    <dgm:cxn modelId="{6CD2533E-D22E-47E4-8D70-A0FEABDD34ED}" type="presOf" srcId="{6A747BB0-E1FB-4355-9EB8-D62C8DB55806}" destId="{7F647544-F277-48FF-84F0-159D1353662D}" srcOrd="0" destOrd="0" presId="urn:microsoft.com/office/officeart/2016/7/layout/VerticalDownArrowProcess"/>
    <dgm:cxn modelId="{ED1E7D67-2DB9-4AD0-A725-CAB47DB25089}" srcId="{2D43F2BC-2396-4F28-86C1-30F8D15779DA}" destId="{5371F520-0A09-4338-86B6-9F1C35463565}" srcOrd="2" destOrd="0" parTransId="{5BBE35EA-70AE-4DD8-B330-0EB8A0DCCDA9}" sibTransId="{B9CC5B5C-E0E2-4C7E-B014-745843E34B9C}"/>
    <dgm:cxn modelId="{8E3BF16D-7C61-44F5-A9AA-9056589FA720}" srcId="{2D43F2BC-2396-4F28-86C1-30F8D15779DA}" destId="{C3C96EAC-7B06-4ECC-BDA6-663BDAE67AC9}" srcOrd="1" destOrd="0" parTransId="{E0EFF954-6C8E-4D3B-B1AA-A89B32B89863}" sibTransId="{F14F9C1A-E0E8-4EBD-83F9-BCBBEAD58861}"/>
    <dgm:cxn modelId="{DA938A4F-6C99-436A-8E40-90730B0FA787}" type="presOf" srcId="{2D43F2BC-2396-4F28-86C1-30F8D15779DA}" destId="{D877FDF8-00CA-4EEC-8D3B-9450E105ED48}" srcOrd="0" destOrd="0" presId="urn:microsoft.com/office/officeart/2016/7/layout/VerticalDownArrowProcess"/>
    <dgm:cxn modelId="{09B6A94F-5474-47C1-B24C-ED8DD3BE7255}" srcId="{C3C96EAC-7B06-4ECC-BDA6-663BDAE67AC9}" destId="{9FB30041-7DA7-4B9B-8142-3F7ADAD02CB3}" srcOrd="0" destOrd="0" parTransId="{8CA357CA-3C47-4220-9415-69A4EC9DD9E0}" sibTransId="{833CC453-CC75-43E6-8ACE-9608D318C170}"/>
    <dgm:cxn modelId="{DF926685-62DC-43B7-ADEE-C4D40DA1D3B1}" type="presOf" srcId="{A3FCB869-D12F-4C0F-B856-CCC3710322A8}" destId="{B81DEA5B-82A6-413D-B98D-2EF2826AA6AB}" srcOrd="0" destOrd="0" presId="urn:microsoft.com/office/officeart/2016/7/layout/VerticalDownArrowProcess"/>
    <dgm:cxn modelId="{5F1F2A90-8827-4D09-8260-21A6609CC8F7}" type="presOf" srcId="{5371F520-0A09-4338-86B6-9F1C35463565}" destId="{E8C10E43-2AAB-4042-AE11-609F92688F41}" srcOrd="0" destOrd="0" presId="urn:microsoft.com/office/officeart/2016/7/layout/VerticalDownArrowProcess"/>
    <dgm:cxn modelId="{C441A5CA-B65F-41AD-A140-0A0E5D78AC3D}" type="presOf" srcId="{9FB30041-7DA7-4B9B-8142-3F7ADAD02CB3}" destId="{1FD5610A-E3C5-4DE8-ACCE-B25749305DD8}" srcOrd="0" destOrd="0" presId="urn:microsoft.com/office/officeart/2016/7/layout/VerticalDownArrowProcess"/>
    <dgm:cxn modelId="{180754CF-2F20-40C7-A990-5858B06FC197}" srcId="{A7BBB708-D9C3-45D9-BE71-F3AAFCC3599A}" destId="{A3FCB869-D12F-4C0F-B856-CCC3710322A8}" srcOrd="0" destOrd="0" parTransId="{28B97F67-EE80-4C5A-A81B-76031A8F0394}" sibTransId="{8C6A83EA-A9EA-45FA-A8E4-B902235886D5}"/>
    <dgm:cxn modelId="{C08D5AD9-C148-443F-826B-9CC119AD1040}" srcId="{2D43F2BC-2396-4F28-86C1-30F8D15779DA}" destId="{A7BBB708-D9C3-45D9-BE71-F3AAFCC3599A}" srcOrd="0" destOrd="0" parTransId="{1B147262-04A9-4C1B-B196-B19B9D769A26}" sibTransId="{D0A31DEE-C45A-499C-8AE2-486B896EBF4F}"/>
    <dgm:cxn modelId="{A1F66EFE-1EAE-4932-A639-730AD44B989B}" type="presOf" srcId="{A7BBB708-D9C3-45D9-BE71-F3AAFCC3599A}" destId="{F8848CA1-89CF-4436-AFF6-B46C8F7D8DB2}" srcOrd="0" destOrd="0" presId="urn:microsoft.com/office/officeart/2016/7/layout/VerticalDownArrowProcess"/>
    <dgm:cxn modelId="{4BC8DC44-B2A6-44A4-833E-12FE33DBE1F8}" type="presParOf" srcId="{D877FDF8-00CA-4EEC-8D3B-9450E105ED48}" destId="{C9B5F64F-85FD-488F-A77C-C7073021D24A}" srcOrd="0" destOrd="0" presId="urn:microsoft.com/office/officeart/2016/7/layout/VerticalDownArrowProcess"/>
    <dgm:cxn modelId="{DBB5F3FE-F426-4010-A3F7-EBED18E7F3EB}" type="presParOf" srcId="{C9B5F64F-85FD-488F-A77C-C7073021D24A}" destId="{E8C10E43-2AAB-4042-AE11-609F92688F41}" srcOrd="0" destOrd="0" presId="urn:microsoft.com/office/officeart/2016/7/layout/VerticalDownArrowProcess"/>
    <dgm:cxn modelId="{C1B77CE9-921B-4DA4-B2FD-BDDADCC1E338}" type="presParOf" srcId="{C9B5F64F-85FD-488F-A77C-C7073021D24A}" destId="{7F647544-F277-48FF-84F0-159D1353662D}" srcOrd="1" destOrd="0" presId="urn:microsoft.com/office/officeart/2016/7/layout/VerticalDownArrowProcess"/>
    <dgm:cxn modelId="{10B47E25-9900-4FA5-B2A1-A6374E5F8728}" type="presParOf" srcId="{D877FDF8-00CA-4EEC-8D3B-9450E105ED48}" destId="{0E6382FE-43A1-4B26-ABE6-837D6F967A74}" srcOrd="1" destOrd="0" presId="urn:microsoft.com/office/officeart/2016/7/layout/VerticalDownArrowProcess"/>
    <dgm:cxn modelId="{B7FACA31-92A9-48FD-B67C-ACFCA14CA610}" type="presParOf" srcId="{D877FDF8-00CA-4EEC-8D3B-9450E105ED48}" destId="{0CFC2EAC-8536-4B6D-BA66-F0950983C5B1}" srcOrd="2" destOrd="0" presId="urn:microsoft.com/office/officeart/2016/7/layout/VerticalDownArrowProcess"/>
    <dgm:cxn modelId="{15E47E78-15DA-4D0C-9EDE-5BFED75C7AC2}" type="presParOf" srcId="{0CFC2EAC-8536-4B6D-BA66-F0950983C5B1}" destId="{067E8B23-65BE-4F8E-A878-162B16BFB312}" srcOrd="0" destOrd="0" presId="urn:microsoft.com/office/officeart/2016/7/layout/VerticalDownArrowProcess"/>
    <dgm:cxn modelId="{EB516607-70F0-474D-B389-5829BDA3E6B3}" type="presParOf" srcId="{0CFC2EAC-8536-4B6D-BA66-F0950983C5B1}" destId="{27036EF0-2C7B-4A9B-A26F-181152A7E9D4}" srcOrd="1" destOrd="0" presId="urn:microsoft.com/office/officeart/2016/7/layout/VerticalDownArrowProcess"/>
    <dgm:cxn modelId="{4E832984-AA7E-40B2-BD50-3EC8C1757997}" type="presParOf" srcId="{0CFC2EAC-8536-4B6D-BA66-F0950983C5B1}" destId="{1FD5610A-E3C5-4DE8-ACCE-B25749305DD8}" srcOrd="2" destOrd="0" presId="urn:microsoft.com/office/officeart/2016/7/layout/VerticalDownArrowProcess"/>
    <dgm:cxn modelId="{D27CA248-5B8A-410A-ABD0-5DDA46B56FBD}" type="presParOf" srcId="{D877FDF8-00CA-4EEC-8D3B-9450E105ED48}" destId="{72A5E268-91AE-40E2-BC83-A59EB38E24F2}" srcOrd="3" destOrd="0" presId="urn:microsoft.com/office/officeart/2016/7/layout/VerticalDownArrowProcess"/>
    <dgm:cxn modelId="{36C18084-AC2C-4A74-8E59-A213F2038AAE}" type="presParOf" srcId="{D877FDF8-00CA-4EEC-8D3B-9450E105ED48}" destId="{1DEF52EF-9D9E-496B-9063-A1F2D3939430}" srcOrd="4" destOrd="0" presId="urn:microsoft.com/office/officeart/2016/7/layout/VerticalDownArrowProcess"/>
    <dgm:cxn modelId="{C67F9153-938C-4AD2-A92A-E14E67A1776C}" type="presParOf" srcId="{1DEF52EF-9D9E-496B-9063-A1F2D3939430}" destId="{F8848CA1-89CF-4436-AFF6-B46C8F7D8DB2}" srcOrd="0" destOrd="0" presId="urn:microsoft.com/office/officeart/2016/7/layout/VerticalDownArrowProcess"/>
    <dgm:cxn modelId="{785C37AD-25D0-4438-BD68-D4C43EA28828}" type="presParOf" srcId="{1DEF52EF-9D9E-496B-9063-A1F2D3939430}" destId="{02A7D417-A016-4963-A4A3-CB3AAF1620D6}" srcOrd="1" destOrd="0" presId="urn:microsoft.com/office/officeart/2016/7/layout/VerticalDownArrowProcess"/>
    <dgm:cxn modelId="{46B95C6A-05A8-40B1-A7E8-4BEFEC4E4F50}" type="presParOf" srcId="{1DEF52EF-9D9E-496B-9063-A1F2D3939430}" destId="{B81DEA5B-82A6-413D-B98D-2EF2826AA6AB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C10E43-2AAB-4042-AE11-609F92688F41}">
      <dsp:nvSpPr>
        <dsp:cNvPr id="0" name=""/>
        <dsp:cNvSpPr/>
      </dsp:nvSpPr>
      <dsp:spPr>
        <a:xfrm>
          <a:off x="0" y="4252987"/>
          <a:ext cx="1699418" cy="13959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863" tIns="227584" rIns="120863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Evaluate</a:t>
          </a:r>
        </a:p>
      </dsp:txBody>
      <dsp:txXfrm>
        <a:off x="0" y="4252987"/>
        <a:ext cx="1699418" cy="1395925"/>
      </dsp:txXfrm>
    </dsp:sp>
    <dsp:sp modelId="{7F647544-F277-48FF-84F0-159D1353662D}">
      <dsp:nvSpPr>
        <dsp:cNvPr id="0" name=""/>
        <dsp:cNvSpPr/>
      </dsp:nvSpPr>
      <dsp:spPr>
        <a:xfrm>
          <a:off x="1699418" y="4252987"/>
          <a:ext cx="5098256" cy="139592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17" tIns="304800" rIns="103417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Evaluate long-term LTV vs short-term response</a:t>
          </a:r>
        </a:p>
      </dsp:txBody>
      <dsp:txXfrm>
        <a:off x="1699418" y="4252987"/>
        <a:ext cx="5098256" cy="1395925"/>
      </dsp:txXfrm>
    </dsp:sp>
    <dsp:sp modelId="{27036EF0-2C7B-4A9B-A26F-181152A7E9D4}">
      <dsp:nvSpPr>
        <dsp:cNvPr id="0" name=""/>
        <dsp:cNvSpPr/>
      </dsp:nvSpPr>
      <dsp:spPr>
        <a:xfrm rot="10800000">
          <a:off x="0" y="2126993"/>
          <a:ext cx="1699418" cy="2146933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863" tIns="227584" rIns="120863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Segment</a:t>
          </a:r>
        </a:p>
      </dsp:txBody>
      <dsp:txXfrm rot="-10800000">
        <a:off x="0" y="2126993"/>
        <a:ext cx="1699418" cy="1395506"/>
      </dsp:txXfrm>
    </dsp:sp>
    <dsp:sp modelId="{1FD5610A-E3C5-4DE8-ACCE-B25749305DD8}">
      <dsp:nvSpPr>
        <dsp:cNvPr id="0" name=""/>
        <dsp:cNvSpPr/>
      </dsp:nvSpPr>
      <dsp:spPr>
        <a:xfrm>
          <a:off x="1699418" y="2126993"/>
          <a:ext cx="5098256" cy="139550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17" tIns="304800" rIns="103417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Segment medium-value customers by product mix</a:t>
          </a:r>
        </a:p>
      </dsp:txBody>
      <dsp:txXfrm>
        <a:off x="1699418" y="2126993"/>
        <a:ext cx="5098256" cy="1395506"/>
      </dsp:txXfrm>
    </dsp:sp>
    <dsp:sp modelId="{02A7D417-A016-4963-A4A3-CB3AAF1620D6}">
      <dsp:nvSpPr>
        <dsp:cNvPr id="0" name=""/>
        <dsp:cNvSpPr/>
      </dsp:nvSpPr>
      <dsp:spPr>
        <a:xfrm rot="10800000">
          <a:off x="0" y="998"/>
          <a:ext cx="1699418" cy="2146933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863" tIns="227584" rIns="120863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Test</a:t>
          </a:r>
        </a:p>
      </dsp:txBody>
      <dsp:txXfrm rot="-10800000">
        <a:off x="0" y="998"/>
        <a:ext cx="1699418" cy="1395506"/>
      </dsp:txXfrm>
    </dsp:sp>
    <dsp:sp modelId="{B81DEA5B-82A6-413D-B98D-2EF2826AA6AB}">
      <dsp:nvSpPr>
        <dsp:cNvPr id="0" name=""/>
        <dsp:cNvSpPr/>
      </dsp:nvSpPr>
      <dsp:spPr>
        <a:xfrm>
          <a:off x="1699418" y="998"/>
          <a:ext cx="5098256" cy="1395506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17" tIns="304800" rIns="103417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Test reduced discounting for high-value customers</a:t>
          </a:r>
        </a:p>
      </dsp:txBody>
      <dsp:txXfrm>
        <a:off x="1699418" y="998"/>
        <a:ext cx="5098256" cy="13955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DFD1-0E9C-4F77-B5B6-62E66591484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029FD-9189-44E9-9FE1-8E7BE95F98A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56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DFD1-0E9C-4F77-B5B6-62E66591484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029FD-9189-44E9-9FE1-8E7BE95F9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9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DFD1-0E9C-4F77-B5B6-62E66591484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029FD-9189-44E9-9FE1-8E7BE95F98A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99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DFD1-0E9C-4F77-B5B6-62E66591484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029FD-9189-44E9-9FE1-8E7BE95F9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75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DFD1-0E9C-4F77-B5B6-62E66591484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029FD-9189-44E9-9FE1-8E7BE95F9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62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DFD1-0E9C-4F77-B5B6-62E66591484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029FD-9189-44E9-9FE1-8E7BE95F9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31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DFD1-0E9C-4F77-B5B6-62E66591484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029FD-9189-44E9-9FE1-8E7BE95F9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20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856DFD1-0E9C-4F77-B5B6-62E66591484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9D029FD-9189-44E9-9FE1-8E7BE95F9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78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DFD1-0E9C-4F77-B5B6-62E66591484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029FD-9189-44E9-9FE1-8E7BE95F9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97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DFD1-0E9C-4F77-B5B6-62E66591484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029FD-9189-44E9-9FE1-8E7BE95F9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2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DFD1-0E9C-4F77-B5B6-62E66591484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029FD-9189-44E9-9FE1-8E7BE95F9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8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856DFD1-0E9C-4F77-B5B6-62E66591484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9D029FD-9189-44E9-9FE1-8E7BE95F98A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2347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BA42-0D5A-CCA0-550F-66C09DD1D4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Evaluating Response, Revenue, and Risk to Inform Campaign Targeting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6578A-372A-68B9-F225-30E89EF0FF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Who Responds, Who Spends, and Where Campaigns Break Down</a:t>
            </a:r>
          </a:p>
        </p:txBody>
      </p:sp>
    </p:spTree>
    <p:extLst>
      <p:ext uri="{BB962C8B-B14F-4D97-AF65-F5344CB8AC3E}">
        <p14:creationId xmlns:p14="http://schemas.microsoft.com/office/powerpoint/2010/main" val="2489220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28C2-EA40-5AF9-02A3-4588B258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Context and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E4BDBB-B84C-37A9-1DD3-7D7C78BB8A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88682"/>
            <a:ext cx="1064041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Marketing campaigns drive engagement, but not all customers respond equally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Discounts and omnichannel strategies may increase response at the cost of margin or complaints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Goal: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identify who responds, who generates value, and where campaigns should focus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+mj-lt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This analysis evaluates campaign effectiveness, customer value, and risk to inform targeting strategy.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857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73CB-95AF-0A25-9BB7-932A3F1B2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904CF-FB2C-525D-D382-051E271F5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Includes:</a:t>
            </a:r>
          </a:p>
          <a:p>
            <a:r>
              <a:rPr lang="en-US" sz="1800" dirty="0">
                <a:latin typeface="+mj-lt"/>
              </a:rPr>
              <a:t>2,200 customers</a:t>
            </a:r>
          </a:p>
          <a:p>
            <a:r>
              <a:rPr lang="en-US" sz="1800" dirty="0">
                <a:latin typeface="+mj-lt"/>
              </a:rPr>
              <a:t>Timeframe: 2012–2014</a:t>
            </a:r>
          </a:p>
          <a:p>
            <a:r>
              <a:rPr lang="en-US" dirty="0"/>
              <a:t>Key dimensions:</a:t>
            </a:r>
          </a:p>
          <a:p>
            <a:pPr lvl="1"/>
            <a:r>
              <a:rPr lang="en-US" dirty="0">
                <a:latin typeface="+mj-lt"/>
              </a:rPr>
              <a:t>Customer demographics</a:t>
            </a:r>
          </a:p>
          <a:p>
            <a:pPr lvl="1"/>
            <a:r>
              <a:rPr lang="en-US" dirty="0">
                <a:latin typeface="+mj-lt"/>
              </a:rPr>
              <a:t>Purchase behavior</a:t>
            </a:r>
          </a:p>
          <a:p>
            <a:pPr lvl="1"/>
            <a:r>
              <a:rPr lang="en-US" dirty="0">
                <a:latin typeface="+mj-lt"/>
              </a:rPr>
              <a:t>Channel usage</a:t>
            </a:r>
          </a:p>
          <a:p>
            <a:pPr lvl="1"/>
            <a:r>
              <a:rPr lang="en-US" dirty="0">
                <a:latin typeface="+mj-lt"/>
              </a:rPr>
              <a:t>Campaign response &amp; complaints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642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07391-B0FC-06B9-BFA2-A37F9CB64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Campaign Performance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061BE6-02B7-F177-5D03-A40ED6D88E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44992"/>
            <a:ext cx="564231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Response and complaints both declined from 2012–2014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Despite lower engagement, total spend increased</a:t>
            </a:r>
          </a:p>
        </p:txBody>
      </p:sp>
      <p:pic>
        <p:nvPicPr>
          <p:cNvPr id="6" name="Picture 5" descr="A black and white text">
            <a:extLst>
              <a:ext uri="{FF2B5EF4-FFF2-40B4-BE49-F238E27FC236}">
                <a16:creationId xmlns:a16="http://schemas.microsoft.com/office/drawing/2014/main" id="{76F438A6-D760-122F-32CB-780710DBF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725" y="3075953"/>
            <a:ext cx="9454550" cy="14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24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585A-001A-0778-A342-4E18590EE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Who Responds?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B97755-F3E0-F338-AA8D-C8BC6D9723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690625"/>
            <a:ext cx="883485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High-value customers show the highest response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Customers purchasing within 0–30 days respond significantly more than inactive customers</a:t>
            </a:r>
          </a:p>
        </p:txBody>
      </p:sp>
      <p:pic>
        <p:nvPicPr>
          <p:cNvPr id="6" name="Picture 5" descr="A graph of a bar graph&#10;&#10;AI-generated content may be incorrect.">
            <a:extLst>
              <a:ext uri="{FF2B5EF4-FFF2-40B4-BE49-F238E27FC236}">
                <a16:creationId xmlns:a16="http://schemas.microsoft.com/office/drawing/2014/main" id="{4145AFF6-566D-4C86-039D-8A740424C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099" y="2613955"/>
            <a:ext cx="8973802" cy="369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57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C3C0B-7D53-FF46-B563-706FE8AA3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Who Actually Generates Value?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BD4FAA-5874-70D0-FEDB-D65ADB592A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12005"/>
            <a:ext cx="81102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Medium-value customers generate the highest total spend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High-value customers respond more but contribute less total revenue than expected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C977CDBD-4185-4DD9-FA99-250A4253E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259" y="2835335"/>
            <a:ext cx="5012001" cy="3496454"/>
          </a:xfrm>
          <a:prstGeom prst="rect">
            <a:avLst/>
          </a:prstGeom>
        </p:spPr>
      </p:pic>
      <p:pic>
        <p:nvPicPr>
          <p:cNvPr id="12" name="Picture 11" descr="A number with black text&#10;&#10;AI-generated content may be incorrect.">
            <a:extLst>
              <a:ext uri="{FF2B5EF4-FFF2-40B4-BE49-F238E27FC236}">
                <a16:creationId xmlns:a16="http://schemas.microsoft.com/office/drawing/2014/main" id="{B839CA36-5F68-90C7-97C0-A897B9D4D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58" y="2835335"/>
            <a:ext cx="5012001" cy="1713843"/>
          </a:xfrm>
          <a:prstGeom prst="rect">
            <a:avLst/>
          </a:prstGeom>
        </p:spPr>
      </p:pic>
      <p:pic>
        <p:nvPicPr>
          <p:cNvPr id="14" name="Picture 13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F6585F5A-7FE4-2ED2-DBD9-3D580F6FC8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58" y="4549178"/>
            <a:ext cx="4897741" cy="178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54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6CF48-DB3D-0685-D36C-8CFB7B933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Discount &amp; Channel Behavior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EB6604-D5FB-8727-A52E-D39BB7564C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63764"/>
            <a:ext cx="54999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Medium-value customers use discounts most frequently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Store and web channels dominate across segments</a:t>
            </a:r>
          </a:p>
        </p:txBody>
      </p:sp>
      <p:pic>
        <p:nvPicPr>
          <p:cNvPr id="6" name="Picture 5" descr="A blue and orange pie chart&#10;&#10;AI-generated content may be incorrect.">
            <a:extLst>
              <a:ext uri="{FF2B5EF4-FFF2-40B4-BE49-F238E27FC236}">
                <a16:creationId xmlns:a16="http://schemas.microsoft.com/office/drawing/2014/main" id="{001339BC-F951-2F4F-C2D6-CD925B52E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05" y="2887094"/>
            <a:ext cx="5499969" cy="2667679"/>
          </a:xfrm>
          <a:prstGeom prst="rect">
            <a:avLst/>
          </a:prstGeom>
        </p:spPr>
      </p:pic>
      <p:pic>
        <p:nvPicPr>
          <p:cNvPr id="8" name="Picture 7" descr="A graph of sales by value segment&#10;&#10;AI-generated content may be incorrect.">
            <a:extLst>
              <a:ext uri="{FF2B5EF4-FFF2-40B4-BE49-F238E27FC236}">
                <a16:creationId xmlns:a16="http://schemas.microsoft.com/office/drawing/2014/main" id="{6AA79100-D8ED-1EAF-CAF0-2B385D412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028" y="2887094"/>
            <a:ext cx="5499967" cy="330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881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EDA23-EB21-421C-37E6-3DF9A531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vs Risk Tradeoff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97BEEF-911C-8715-0579-2108ACE0EE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819311"/>
            <a:ext cx="632128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High-value responders generate the most revenue per responder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Complaint rate remains low overall (~1%), below risk threshold</a:t>
            </a:r>
          </a:p>
        </p:txBody>
      </p:sp>
      <p:pic>
        <p:nvPicPr>
          <p:cNvPr id="6" name="Picture 5" descr="A graph showing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9C32C87A-E830-F45F-CBE6-7E27EDD6D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980080"/>
            <a:ext cx="10465566" cy="285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117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639F9-081F-AED8-8381-E3B39DE8C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Incentives Actually Move Revenue?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37FA39-02E6-391E-D4E8-DDAE55B13D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802058"/>
            <a:ext cx="639335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Responders spend more than non-responders across all segments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Impact is strongest among high-value customers</a:t>
            </a:r>
          </a:p>
        </p:txBody>
      </p:sp>
      <p:pic>
        <p:nvPicPr>
          <p:cNvPr id="12" name="Picture 11" descr="A graph with blue bars&#10;&#10;AI-generated content may be incorrect.">
            <a:extLst>
              <a:ext uri="{FF2B5EF4-FFF2-40B4-BE49-F238E27FC236}">
                <a16:creationId xmlns:a16="http://schemas.microsoft.com/office/drawing/2014/main" id="{51C325A2-5F10-CD12-3876-B9E3D2211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113" y="2725388"/>
            <a:ext cx="7207774" cy="359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73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66F37B-9BDA-4182-BA3C-AEDA5C103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8" name="Graphic 7" descr="Target Audience">
            <a:extLst>
              <a:ext uri="{FF2B5EF4-FFF2-40B4-BE49-F238E27FC236}">
                <a16:creationId xmlns:a16="http://schemas.microsoft.com/office/drawing/2014/main" id="{5E504B90-957B-B313-3BE1-5969B2301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99" y="1296626"/>
            <a:ext cx="4001315" cy="4001315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8D5C666-0C14-AD41-D991-A267530D6A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4769" y="2198914"/>
            <a:ext cx="6574973" cy="3670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j-lt"/>
              </a:rPr>
              <a:t>High-value customers respond most but are not the top revenue drivers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j-lt"/>
              </a:rPr>
              <a:t>Medium-value customers generate the highest total spend and discount usage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j-lt"/>
              </a:rPr>
              <a:t>Campaigns favor recently active customers over dormant ones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j-lt"/>
              </a:rPr>
              <a:t>Complaint risk remains low despite targeting and incentives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31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471176-063F-CD45-1122-509087AA0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>
            <a:normAutofit/>
          </a:bodyPr>
          <a:lstStyle/>
          <a:p>
            <a:r>
              <a:rPr lang="en-US"/>
              <a:t>Recommendations</a:t>
            </a:r>
          </a:p>
        </p:txBody>
      </p:sp>
      <p:pic>
        <p:nvPicPr>
          <p:cNvPr id="7" name="Graphic 6" descr="Life ring">
            <a:extLst>
              <a:ext uri="{FF2B5EF4-FFF2-40B4-BE49-F238E27FC236}">
                <a16:creationId xmlns:a16="http://schemas.microsoft.com/office/drawing/2014/main" id="{5C76BF1C-3785-E55B-A5FF-EC9BE0C7B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99" y="1296626"/>
            <a:ext cx="4001315" cy="400131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AEDB8-3803-DB2E-8EA6-11CAFBA6F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769" y="2198914"/>
            <a:ext cx="6574973" cy="3670180"/>
          </a:xfrm>
        </p:spPr>
        <p:txBody>
          <a:bodyPr>
            <a:normAutofit/>
          </a:bodyPr>
          <a:lstStyle/>
          <a:p>
            <a:r>
              <a:rPr lang="en-US" dirty="0"/>
              <a:t>Target:</a:t>
            </a:r>
          </a:p>
          <a:p>
            <a:r>
              <a:rPr lang="en-US" dirty="0"/>
              <a:t>High and medium-value customers</a:t>
            </a:r>
          </a:p>
          <a:p>
            <a:r>
              <a:rPr lang="en-US" dirty="0"/>
              <a:t>Recently active (0–30 days)</a:t>
            </a:r>
          </a:p>
          <a:p>
            <a:r>
              <a:rPr lang="en-US" dirty="0"/>
              <a:t>Omnichannel users</a:t>
            </a:r>
          </a:p>
          <a:p>
            <a:r>
              <a:rPr lang="en-US" dirty="0"/>
              <a:t>Deprioritize:</a:t>
            </a:r>
          </a:p>
          <a:p>
            <a:r>
              <a:rPr lang="en-US" dirty="0">
                <a:latin typeface="+mj-lt"/>
              </a:rPr>
              <a:t>Long-inactive customers</a:t>
            </a:r>
          </a:p>
          <a:p>
            <a:r>
              <a:rPr lang="en-US" dirty="0">
                <a:latin typeface="+mj-lt"/>
              </a:rPr>
              <a:t>Discount-heavy low spenders</a:t>
            </a:r>
          </a:p>
          <a:p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09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64F954-F4A5-31DF-3E2F-22F13D4CD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8685B54-9FC4-4742-C440-EB59202E9D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732058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898405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78</TotalTime>
  <Words>308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Retrospect</vt:lpstr>
      <vt:lpstr>Evaluating Response, Revenue, and Risk to Inform Campaign Targeting</vt:lpstr>
      <vt:lpstr>Business Context and Objective</vt:lpstr>
      <vt:lpstr>Data Overview</vt:lpstr>
      <vt:lpstr>Overall Campaign Performance</vt:lpstr>
      <vt:lpstr>Who Responds?</vt:lpstr>
      <vt:lpstr>Who Actually Generates Value?</vt:lpstr>
      <vt:lpstr>Discount &amp; Channel Behavior</vt:lpstr>
      <vt:lpstr>Revenue vs Risk Tradeoff</vt:lpstr>
      <vt:lpstr>Do Incentives Actually Move Revenue?</vt:lpstr>
      <vt:lpstr>Conclusion</vt:lpstr>
      <vt:lpstr>Recommendations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REESE, KEY</dc:creator>
  <cp:lastModifiedBy>REESE, KEY</cp:lastModifiedBy>
  <cp:revision>17</cp:revision>
  <dcterms:created xsi:type="dcterms:W3CDTF">2025-12-17T03:37:59Z</dcterms:created>
  <dcterms:modified xsi:type="dcterms:W3CDTF">2025-12-17T21:40:21Z</dcterms:modified>
</cp:coreProperties>
</file>